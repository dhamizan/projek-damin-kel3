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sz="94660"/>
  </p:normalViewPr>
  <p:slideViewPr>
    <p:cSldViewPr snapToGrid="0">
      <p:cViewPr varScale="1">
        <p:scale>
          <a:sx d="100" n="86"/>
          <a:sy d="100" n="86"/>
        </p:scale>
        <p:origin x="562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EFD-720A-4F7F-BAF4-33DB52A72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7B4C-D14A-42B0-BCEC-C179425E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9EE-A783-42F9-9537-614A1DC1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2775C6-9266-49E6-8A57-99D5D3F679F9}" type="datetimeFigureOut">
              <a:rPr lang="en-ID" smtClean="0"/>
              <a:pPr/>
              <a:t>16/11/2025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ACECA-0203-40CE-9422-3CDC7794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37165-3DC4-4FC4-A919-DEC3C920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4588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E51D7-AEC1-48A5-9FA8-CEDBC6D3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511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37B4-2D99-4E7F-A820-7532B884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DA10-E694-44C4-A25D-A9CAA515B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E68E-553E-44D1-BDD6-B61E7E09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192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AEC-7889-42F7-BC34-FB4BD671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E5DB-6E76-4A7B-92C3-ACC38E9A7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07F3F-7978-499F-9999-86FE21308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075E3-2077-4E57-82DC-3C350F04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792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26B5-E056-4F75-B3A9-6C5F037A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6A511-6138-4A4C-8B4D-C84625DB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84169-7649-40F3-841E-6D5D354FA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4E183-28BC-4E2F-A2A5-09CE61413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DBE87-8A6E-4E19-8BC6-6493A1BC9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61CDEE-5C65-4C94-B521-394A55C2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39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17E-2969-4815-B697-7C526315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ABC89-4692-4FBE-AE1E-FA710235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266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6760-23AE-41EC-AEE9-36F3F102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612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205-BFE6-4D43-B1FE-C90B922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3E13-0E18-4D7A-9EE0-C981E297A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9375-03A6-4E40-A383-CCE0E45A5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D4732-0A77-4C00-BB76-F607BEAD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596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F8B5-A28C-4BD5-9B40-B796F39E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40693-0055-40EF-8C5F-8F43BCD14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5A272-644E-4134-909A-5023EB322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A88CA-3FCB-4D92-AFE9-9916D39F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52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40C8-DFB2-4201-B153-03CC64A0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7891A-5DEB-48DB-BB81-6EFA661A5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C70B-C482-46A2-990A-FC1308FF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755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68005-AE64-4DCF-B067-608A18B4D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0E203-EF82-4685-99B0-438F00B2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2339-F1E9-48B0-AF44-5B6826C0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000131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B232B-C0E8-4059-B706-94F09C81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B77BF-0567-4CD5-BC5F-01CA9F2747E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EBE2-4F79-4369-B06C-BB5F7E15927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314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EFD-720A-4F7F-BAF4-33DB52A72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PROPOSAL DATA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7B4C-D14A-42B0-BCEC-C179425E4DF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Klasifikasi Customer Churn dengan Decision Tree</a:t>
            </a:r>
            <a:br/>
            <a:br/>
            <a:r>
              <a:rPr/>
              <a:t>Kelompok 3 Kelas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9EE-A783-42F9-9537-614A1DC13F6E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16 November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Judul dan Anggota Kelompok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Klasifikasi Customer Churn</a:t>
            </a:r>
          </a:p>
          <a:p>
            <a:pPr lvl="0"/>
            <a:r>
              <a:rPr b="1"/>
              <a:t>Judul Proposal:</a:t>
            </a:r>
            <a:r>
              <a:rPr/>
              <a:t> Klasifikasi Customer Churn dengan Metode Decision Tree Pada Perusahaan Telecom.</a:t>
            </a:r>
          </a:p>
          <a:p>
            <a:pPr lvl="0"/>
            <a:r>
              <a:rPr b="1"/>
              <a:t>Anggota Kelompok:</a:t>
            </a:r>
            <a:r>
              <a:rPr/>
              <a:t> Dhiyaurrahman Hamizan Haikal Putra, Keisyah Zahra Anatasya, Raden Muhammad Raditya Rahman.</a:t>
            </a:r>
          </a:p>
          <a:p>
            <a:pPr lvl="0"/>
            <a:r>
              <a:rPr b="1"/>
              <a:t>Output yang Diharapkan:</a:t>
            </a:r>
            <a:r>
              <a:rPr/>
              <a:t> Model prediksi yang dapat mengidentifikasi pelanggan berpotensi </a:t>
            </a:r>
            <a:r>
              <a:rPr i="1"/>
              <a:t>churn</a:t>
            </a:r>
            <a:r>
              <a:rPr/>
              <a:t> secara dini.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🧐 Latar Belakang Masalah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Mengapa Klasifikasi Churn Penting?</a:t>
            </a:r>
          </a:p>
          <a:p>
            <a:pPr lvl="0"/>
            <a:r>
              <a:rPr b="1"/>
              <a:t>Tingkat Persaingan Tinggi:</a:t>
            </a:r>
            <a:r>
              <a:rPr/>
              <a:t> Industri telekomunikasi memerlukan fokus pada strategi retensi pelanggan.</a:t>
            </a:r>
          </a:p>
          <a:p>
            <a:pPr lvl="0"/>
            <a:r>
              <a:rPr b="1"/>
              <a:t>Dampak Bisnis:</a:t>
            </a:r>
            <a:r>
              <a:rPr/>
              <a:t> Tingkat </a:t>
            </a:r>
            <a:r>
              <a:rPr i="1"/>
              <a:t>churn</a:t>
            </a:r>
            <a:r>
              <a:rPr/>
              <a:t> yang tinggi berdampak langsung pada penurunan pendapatan.</a:t>
            </a:r>
          </a:p>
          <a:p>
            <a:pPr lvl="0"/>
            <a:r>
              <a:rPr b="1"/>
              <a:t>Keunggulan Decision Tree:</a:t>
            </a:r>
            <a:r>
              <a:rPr/>
              <a:t> Algoritma efektif dan akurat, serta mudah diinterpretasikan secara visual untuk mengidentifikasi faktor pemicu </a:t>
            </a:r>
            <a:r>
              <a:rPr i="1"/>
              <a:t>churn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Rumusan Masalah &amp; Tujuan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Rumusan Masalah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Bagaimana kinerja model Decision Tree dalam mengklasifikasikan pelanggan yang akan </a:t>
                </a:r>
                <a:r>
                  <a:rPr i="1"/>
                  <a:t>churn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t>e</m:t>
                    </m:r>
                    <m:r>
                      <m:t>s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t>o</m:t>
                    </m:r>
                  </m:oMath>
                </a14:m>
                <a:r>
                  <a:rPr/>
                  <a:t>)?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Variabel prediktor apa saja yang paling signifikan memengaruhi </a:t>
                </a:r>
                <a:r>
                  <a:rPr i="1"/>
                  <a:t>customer churn</a:t>
                </a:r>
                <a:r>
                  <a:rPr/>
                  <a:t>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Tujuan Proyek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Menganalisis dan mengevaluasi kinerja model Decision Tree.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Mengidentifikasi variabel-variabel kunci (misalnya Kontrak, Durasi Berlangganan) yang memiliki pengaruh signifikan terhadap keputusan pelanggan untuk </a:t>
                </a:r>
                <a:r>
                  <a:rPr i="1"/>
                  <a:t>churn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Sumber dan Karakteristik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Dataset Telecom Customer Churn Prediction</a:t>
                </a:r>
              </a:p>
              <a:p>
                <a:pPr lvl="0"/>
                <a:r>
                  <a:rPr b="1"/>
                  <a:t>Sumber:</a:t>
                </a:r>
                <a:r>
                  <a:rPr/>
                  <a:t> Data YBIFoundation dari GitHub.</a:t>
                </a:r>
              </a:p>
              <a:p>
                <a:pPr lvl="0"/>
                <a:r>
                  <a:rPr b="1"/>
                  <a:t>Ukuran Data:</a:t>
                </a:r>
                <a:r>
                  <a:rPr/>
                  <a:t> 21 kolom dan 7043 baris.</a:t>
                </a:r>
              </a:p>
              <a:p>
                <a:pPr lvl="0"/>
                <a:r>
                  <a:rPr b="1"/>
                  <a:t>Variabel Target (Respons):</a:t>
                </a:r>
                <a:r>
                  <a:rPr/>
                  <a:t> Kolom </a:t>
                </a:r>
                <a:r>
                  <a:rPr b="1"/>
                  <a:t>Churn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t>e</m:t>
                    </m:r>
                    <m:r>
                      <m:t>s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t>o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Contoh Fitur: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Tenure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Contract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InternetService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MonthlyCharges</a:t>
                </a:r>
                <a:r>
                  <a:rPr/>
                  <a:t>, dll.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Isu Potensial</a:t>
                </a:r>
              </a:p>
              <a:p>
                <a:pPr lvl="0"/>
                <a:r>
                  <a:rPr b="1"/>
                  <a:t>Missing Values:</a:t>
                </a:r>
                <a:r>
                  <a:rPr/>
                  <a:t> Kolom </a:t>
                </a:r>
                <a:r>
                  <a:rPr>
                    <a:latin typeface="Courier"/>
                  </a:rPr>
                  <a:t>TotalCharges</a:t>
                </a:r>
                <a:r>
                  <a:rPr/>
                  <a:t> saat ini memiliki nilai yang hilang.</a:t>
                </a:r>
              </a:p>
              <a:p>
                <a:pPr lvl="0"/>
                <a:r>
                  <a:rPr b="1"/>
                  <a:t>Imbalance Kelas:</a:t>
                </a:r>
                <a:r>
                  <a:rPr/>
                  <a:t> Potensi ketidakseimbangan kelas pada variabel target </a:t>
                </a:r>
                <a:r>
                  <a:rPr>
                    <a:latin typeface="Courier"/>
                  </a:rPr>
                  <a:t>Churn</a:t>
                </a:r>
                <a:r>
                  <a:rPr/>
                  <a:t> perlu dianalisis.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⚙️ Metodologi Data Mining (CRISP-DM)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Proses proyek mengikuti standar industri </a:t>
                </a:r>
                <a:r>
                  <a:rPr b="1"/>
                  <a:t>CRISP-DM</a:t>
                </a:r>
                <a:r>
                  <a:rPr/>
                  <a:t>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Business Understanding:</a:t>
                </a:r>
                <a:r>
                  <a:rPr/>
                  <a:t> Mengidentifikasi pelanggan berpotensi </a:t>
                </a:r>
                <a:r>
                  <a:rPr i="1"/>
                  <a:t>churn</a:t>
                </a:r>
                <a:r>
                  <a:rPr/>
                  <a:t> untuk mengurangi kerugian.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Data Understanding:</a:t>
                </a:r>
                <a:r>
                  <a:rPr/>
                  <a:t> Eksplorasi data, identifikasi pola, nilai hilang, dan ketidakseimbangan kelas.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Data Preparation:</a:t>
                </a:r>
                <a:r>
                  <a:rPr/>
                  <a:t> Pembersihan </a:t>
                </a:r>
                <a:r>
                  <a:rPr i="1"/>
                  <a:t>missing values</a:t>
                </a:r>
                <a:r>
                  <a:rPr/>
                  <a:t> (</a:t>
                </a:r>
                <a:r>
                  <a:rPr>
                    <a:latin typeface="Courier"/>
                  </a:rPr>
                  <a:t>TotalCharges</a:t>
                </a:r>
                <a:r>
                  <a:rPr/>
                  <a:t>), transformasi data kategorikal, dan pembagian </a:t>
                </a:r>
                <a:r>
                  <a:rPr i="1"/>
                  <a:t>Train/Test</a:t>
                </a:r>
                <a:r>
                  <a:rPr/>
                  <a:t> (80:20).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Modeling:</a:t>
                </a:r>
                <a:r>
                  <a:rPr/>
                  <a:t> Implementasi algoritma Decision Tree (</a:t>
                </a:r>
                <a:r>
                  <a:rPr>
                    <a:latin typeface="Courier"/>
                  </a:rPr>
                  <a:t>rpart</a:t>
                </a:r>
                <a:r>
                  <a:rPr/>
                  <a:t>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Evaluation:</a:t>
                </a:r>
                <a:r>
                  <a:rPr/>
                  <a:t> Pengujian model menggunakan metrik (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t>c</m:t>
                    </m:r>
                    <m:r>
                      <m:t>c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c</m:t>
                    </m:r>
                    <m:r>
                      <m:t>y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i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,</m:t>
                    </m:r>
                    <m:r>
                      <m:t>F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c</m:t>
                    </m:r>
                    <m:r>
                      <m:t>o</m:t>
                    </m:r>
                    <m:r>
                      <m:t>r</m:t>
                    </m:r>
                    <m:r>
                      <m:t>e</m:t>
                    </m:r>
                  </m:oMath>
                </a14:m>
                <a:r>
                  <a:rPr/>
                  <a:t>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Deployment:</a:t>
                </a:r>
                <a:r>
                  <a:rPr/>
                  <a:t> Interpretasi hasil untuk rekomendasi strategi retensi.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🌳 Teknik &amp; Algoritma: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Keunggulan Metode Decision Tree</a:t>
            </a:r>
          </a:p>
          <a:p>
            <a:pPr lvl="0"/>
            <a:r>
              <a:rPr b="1"/>
              <a:t>Interpretasi Visual:</a:t>
            </a:r>
            <a:r>
              <a:rPr/>
              <a:t> Model yang dihasilkan mudah dipahami karena setiap cabang adalah aturan keputusan.</a:t>
            </a:r>
          </a:p>
          <a:p>
            <a:pPr lvl="0"/>
            <a:r>
              <a:rPr b="1"/>
              <a:t>Fleksibel:</a:t>
            </a:r>
            <a:r>
              <a:rPr/>
              <a:t> Mampu menangani data numerik maupun kategorikal secara bersamaan.</a:t>
            </a:r>
          </a:p>
          <a:p>
            <a:pPr lvl="0"/>
            <a:r>
              <a:rPr b="1"/>
              <a:t>Feature Importance:</a:t>
            </a:r>
            <a:r>
              <a:rPr/>
              <a:t> Efektif mengidentifikasi fitur yang paling berpengaruh terhadap </a:t>
            </a:r>
            <a:r>
              <a:rPr i="1"/>
              <a:t>churn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Alat dan Library R</a:t>
            </a:r>
          </a:p>
          <a:p>
            <a:pPr lvl="0"/>
            <a:r>
              <a:rPr b="1"/>
              <a:t>Algoritma:</a:t>
            </a:r>
            <a:r>
              <a:rPr/>
              <a:t> </a:t>
            </a:r>
            <a:r>
              <a:rPr>
                <a:latin typeface="Courier"/>
              </a:rPr>
              <a:t>rpart</a:t>
            </a:r>
            <a:r>
              <a:rPr/>
              <a:t> dan </a:t>
            </a:r>
            <a:r>
              <a:rPr>
                <a:latin typeface="Courier"/>
              </a:rPr>
              <a:t>rpart.plot</a:t>
            </a:r>
            <a:r>
              <a:rPr/>
              <a:t>.</a:t>
            </a:r>
          </a:p>
          <a:p>
            <a:pPr lvl="0"/>
            <a:r>
              <a:rPr b="1"/>
              <a:t>Evaluasi:</a:t>
            </a:r>
            <a:r>
              <a:rPr/>
              <a:t> </a:t>
            </a:r>
            <a:r>
              <a:rPr>
                <a:latin typeface="Courier"/>
              </a:rPr>
              <a:t>caret</a:t>
            </a:r>
            <a:r>
              <a:rPr/>
              <a:t>.</a:t>
            </a:r>
          </a:p>
          <a:p>
            <a:pPr lvl="0"/>
            <a:r>
              <a:rPr b="1"/>
              <a:t>Data Prep: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dan </a:t>
            </a:r>
            <a:r>
              <a:rPr>
                <a:latin typeface="Courier"/>
              </a:rPr>
              <a:t>naniar</a:t>
            </a:r>
            <a:r>
              <a:rPr/>
              <a:t>.</a:t>
            </a:r>
          </a:p>
          <a:p>
            <a:pPr lvl="0"/>
            <a:r>
              <a:rPr b="1"/>
              <a:t>Visualisasi:</a:t>
            </a:r>
            <a:r>
              <a:rPr/>
              <a:t> </a:t>
            </a:r>
            <a:r>
              <a:rPr>
                <a:latin typeface="Courier"/>
              </a:rPr>
              <a:t>ggplot2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205-BFE6-4D43-B1FE-C90B922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📅 Rencana Implementasi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9375-03A6-4E40-A383-CCE0E45A5844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Periode: 7 Hari (Mulai 10 November 2025)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Tanggal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Tahap CRISP-DM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Aktivitas Kunci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10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Business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Akuisisi Data, Eksplorasi Data Awal, Data Cleaning.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11-12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Pra-pemrosesan Data, Encoding, Pembagian </a:t>
                      </a:r>
                      <a:r>
                        <a:rPr i="1"/>
                        <a:t>Train/Test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13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Implementasi Model Decision Tree dan Uji performa awal.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14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Hitung metrik evaluasi final (</a:t>
                      </a:r>
                      <a:r>
                        <a:rPr i="1"/>
                        <a:t>Accuracy, Precision, Recall, F1-Score</a:t>
                      </a:r>
                      <a:r>
                        <a:rPr/>
                        <a:t>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15-16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Finalisasi laporan dan interpretasi hasil untuk dampak bisnis.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Hasil dan Dampak yang Diharapkan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Hasil</a:t>
            </a:r>
          </a:p>
          <a:p>
            <a:pPr lvl="0"/>
            <a:r>
              <a:rPr b="1"/>
              <a:t>Model Klasifikasi:</a:t>
            </a:r>
            <a:r>
              <a:rPr/>
              <a:t> Decision Tree yang mampu memprediksi </a:t>
            </a:r>
            <a:r>
              <a:rPr i="1"/>
              <a:t>customer churn</a:t>
            </a:r>
            <a:r>
              <a:rPr/>
              <a:t> dengan kinerja terukur.</a:t>
            </a:r>
          </a:p>
          <a:p>
            <a:pPr lvl="0"/>
            <a:r>
              <a:rPr b="1"/>
              <a:t>Laporan Kinerja:</a:t>
            </a:r>
            <a:r>
              <a:rPr/>
              <a:t> Grafik visualisasi model dan evaluasi metrik.</a:t>
            </a:r>
          </a:p>
          <a:p>
            <a:pPr lvl="0"/>
            <a:r>
              <a:rPr b="1"/>
              <a:t>Pengetahuan Bisnis:</a:t>
            </a:r>
            <a:r>
              <a:rPr/>
              <a:t> Identifikasi variabel dominan penyebab </a:t>
            </a:r>
            <a:r>
              <a:rPr i="1"/>
              <a:t>churn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Dampak</a:t>
            </a:r>
          </a:p>
          <a:p>
            <a:pPr lvl="0"/>
            <a:r>
              <a:rPr b="1"/>
              <a:t>Studi Kasus:</a:t>
            </a:r>
            <a:r>
              <a:rPr/>
              <a:t> Memberikan studi kasus nyata aplikasi Decision Tree.</a:t>
            </a:r>
          </a:p>
          <a:p>
            <a:pPr lvl="0"/>
            <a:r>
              <a:rPr b="1"/>
              <a:t>Rekomendasi Strategis:</a:t>
            </a:r>
            <a:r>
              <a:rPr/>
              <a:t> Menyediakan rekomendasi berbasis data bagi perusahaan untuk merancang program retensi yang lebih fokus dan proaktif.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DATA MINING</dc:title>
  <dc:creator>Kelompok 3 Kelas A</dc:creator>
  <cp:keywords/>
  <dcterms:created xsi:type="dcterms:W3CDTF">2025-11-16T13:25:01Z</dcterms:created>
  <dcterms:modified xsi:type="dcterms:W3CDTF">2025-11-16T13:25:01Z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November 2025</vt:lpwstr>
  </property>
  <property fmtid="{D5CDD505-2E9C-101B-9397-08002B2CF9AE}" pid="3" name="output">
    <vt:lpwstr/>
  </property>
  <property fmtid="{D5CDD505-2E9C-101B-9397-08002B2CF9AE}" pid="4" name="subtitle">
    <vt:lpwstr>Klasifikasi Customer Churn dengan Decision Tree</vt:lpwstr>
  </property>
</Properties>
</file>